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Lobster"/>
      <p:regular r:id="rId24"/>
    </p:embeddedFont>
    <p:embeddedFont>
      <p:font typeface="Merriweather Medium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  <p:embeddedFont>
      <p:font typeface="Merriweather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obster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Medium-bold.fntdata"/><Relationship Id="rId25" Type="http://schemas.openxmlformats.org/officeDocument/2006/relationships/font" Target="fonts/MerriweatherMedium-regular.fntdata"/><Relationship Id="rId28" Type="http://schemas.openxmlformats.org/officeDocument/2006/relationships/font" Target="fonts/MerriweatherMedium-boldItalic.fntdata"/><Relationship Id="rId27" Type="http://schemas.openxmlformats.org/officeDocument/2006/relationships/font" Target="fonts/Merriweath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33" Type="http://schemas.openxmlformats.org/officeDocument/2006/relationships/font" Target="fonts/MerriweatherExtraBold-bold.fntdata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MerriweatherExtra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ce81012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ce81012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ce81012b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ce81012b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ce81012b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ce81012b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ce81012b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ce81012b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ce81012b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ce81012b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ce81012b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ce81012b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ce81012b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ce81012b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ce81012b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ce81012b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ce81012be_5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ce81012be_5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ce81012b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ce81012b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ce81012be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ce81012be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ce81012be_5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ce81012be_5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ce81012b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ce81012b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ce81012be_5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ce81012be_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ce81012be_5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ce81012be_5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ce81012b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ce81012b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ce81012be_5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ce81012be_5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olab.research.google.com/drive/1-hz_HrLfwXhzgXKsxPn2KEQL0mIORzcK?usp=sharin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9225" y="744575"/>
            <a:ext cx="9058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 Rethinking Evaluation Methods for Unsupervised Word Embeddings</a:t>
            </a:r>
            <a:endParaRPr sz="3780">
              <a:latin typeface="Merriweather ExtraBold"/>
              <a:ea typeface="Merriweather ExtraBold"/>
              <a:cs typeface="Merriweather ExtraBold"/>
              <a:sym typeface="Merriweather Extra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77800" y="2834125"/>
            <a:ext cx="8354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580"/>
              <a:t>Tobias Schnabel, Igor Labutov, David Mimno, Thorsten Joachims</a:t>
            </a:r>
            <a:endParaRPr sz="1580"/>
          </a:p>
        </p:txBody>
      </p:sp>
      <p:sp>
        <p:nvSpPr>
          <p:cNvPr id="56" name="Google Shape;56;p13"/>
          <p:cNvSpPr txBox="1"/>
          <p:nvPr/>
        </p:nvSpPr>
        <p:spPr>
          <a:xfrm>
            <a:off x="5820550" y="3990600"/>
            <a:ext cx="3276900" cy="1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73763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Presented by:</a:t>
            </a:r>
            <a:br>
              <a:rPr lang="en" sz="1600">
                <a:solidFill>
                  <a:srgbClr val="073763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</a:br>
            <a:r>
              <a:rPr lang="en" sz="1600">
                <a:solidFill>
                  <a:srgbClr val="073763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- V Sujay (B22CS063)</a:t>
            </a:r>
            <a:endParaRPr sz="1600">
              <a:solidFill>
                <a:srgbClr val="073763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73763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- </a:t>
            </a:r>
            <a:r>
              <a:rPr lang="en" sz="1600">
                <a:solidFill>
                  <a:srgbClr val="073763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Nikshiptha S (B22CS050)</a:t>
            </a:r>
            <a:endParaRPr sz="1600">
              <a:solidFill>
                <a:srgbClr val="073763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73763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- </a:t>
            </a:r>
            <a:r>
              <a:rPr lang="en" sz="1600">
                <a:solidFill>
                  <a:srgbClr val="073763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Aiswarya K (B22CS028)</a:t>
            </a:r>
            <a:r>
              <a:rPr lang="en" sz="1600">
                <a:solidFill>
                  <a:srgbClr val="073763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 </a:t>
            </a:r>
            <a:endParaRPr sz="1600">
              <a:solidFill>
                <a:srgbClr val="073763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 How do we accurately measure if a machine understands the meaning of a word?</a:t>
            </a:r>
            <a:endParaRPr b="1" sz="302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795600"/>
            <a:ext cx="8520600" cy="27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 Simple Exercise:</a:t>
            </a:r>
            <a:r>
              <a:rPr lang="en" sz="1700">
                <a:solidFill>
                  <a:schemeClr val="dk1"/>
                </a:solidFill>
              </a:rPr>
              <a:t> How similar are the words "tiger" and "fauna" on a scale from 0 to 10?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The Problem:</a:t>
            </a:r>
            <a:r>
              <a:rPr lang="en" sz="1700">
                <a:solidFill>
                  <a:schemeClr val="dk1"/>
                </a:solidFill>
              </a:rPr>
              <a:t> Standard human datasets (like WordSim-353) score this as 5.62, but with a massive standard deviation of sigma=2.9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Agenda:</a:t>
            </a:r>
            <a:r>
              <a:rPr lang="en" sz="1700">
                <a:solidFill>
                  <a:schemeClr val="dk1"/>
                </a:solidFill>
              </a:rPr>
              <a:t> We will explore the mathematical flaws in traditional evaluations, introduce comparative and set-based evaluation methods, and analyze downstream model performance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Background - The Geometry of Meaning</a:t>
            </a:r>
            <a:endParaRPr b="1" sz="300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Word Embeddings:</a:t>
            </a:r>
            <a:r>
              <a:rPr lang="en" sz="1400">
                <a:solidFill>
                  <a:schemeClr val="dk1"/>
                </a:solidFill>
              </a:rPr>
              <a:t> A mapping that transforms a word </a:t>
            </a:r>
            <a:r>
              <a:rPr i="1" lang="en" sz="1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w</a:t>
            </a:r>
            <a:r>
              <a:rPr lang="en" sz="1400">
                <a:solidFill>
                  <a:schemeClr val="dk1"/>
                </a:solidFill>
              </a:rPr>
              <a:t> from a vocabulary </a:t>
            </a:r>
            <a:r>
              <a:rPr b="1" lang="en" sz="1400">
                <a:solidFill>
                  <a:schemeClr val="dk1"/>
                </a:solidFill>
              </a:rPr>
              <a:t>V</a:t>
            </a:r>
            <a:r>
              <a:rPr lang="en" sz="1400">
                <a:solidFill>
                  <a:schemeClr val="dk1"/>
                </a:solidFill>
              </a:rPr>
              <a:t> into a real-valued vector </a:t>
            </a:r>
            <a:r>
              <a:rPr i="1" lang="en" sz="1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w</a:t>
            </a:r>
            <a:r>
              <a:rPr i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in a high-dimensional space.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Dimensionality:</a:t>
            </a:r>
            <a:r>
              <a:rPr lang="en" sz="1400">
                <a:solidFill>
                  <a:schemeClr val="dk1"/>
                </a:solidFill>
              </a:rPr>
              <a:t> In these experiments, words are embedded into a 50-dimensional space (eg: </a:t>
            </a:r>
            <a:r>
              <a:rPr b="1" lang="en" sz="1400">
                <a:solidFill>
                  <a:schemeClr val="dk1"/>
                </a:solidFill>
              </a:rPr>
              <a:t>D</a:t>
            </a:r>
            <a:r>
              <a:rPr lang="en" sz="1400">
                <a:solidFill>
                  <a:schemeClr val="dk1"/>
                </a:solidFill>
              </a:rPr>
              <a:t> = 50).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Goal:</a:t>
            </a:r>
            <a:r>
              <a:rPr lang="en" sz="1400">
                <a:solidFill>
                  <a:schemeClr val="dk1"/>
                </a:solidFill>
              </a:rPr>
              <a:t> The geometric relationship between two vectors should directly mirror the linguistic relationship between the two words.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Evaluated Models:</a:t>
            </a:r>
            <a:r>
              <a:rPr lang="en" sz="1400">
                <a:solidFill>
                  <a:schemeClr val="dk1"/>
                </a:solidFill>
              </a:rPr>
              <a:t> The paper evaluates six representative models, including prediction-based models (CBOW, C&amp;W) and reconstruction-based models (GloVe, TSCCA, Random Projections, Hellinger PCA).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The Mathematics of Similarity</a:t>
            </a:r>
            <a:endParaRPr b="1" sz="302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Measuring Distance:</a:t>
            </a:r>
            <a:r>
              <a:rPr lang="en" sz="1400">
                <a:solidFill>
                  <a:schemeClr val="dk1"/>
                </a:solidFill>
              </a:rPr>
              <a:t> To determine how close two words are in the vector space, we calculate the cosine similarity.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Formula:</a:t>
            </a:r>
            <a:br>
              <a:rPr b="1"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Nearest Neighbors:</a:t>
            </a:r>
            <a:r>
              <a:rPr lang="en" sz="1400">
                <a:solidFill>
                  <a:schemeClr val="dk1"/>
                </a:solidFill>
              </a:rPr>
              <a:t> We evaluate a query word $w$ by sorting all other words $v$ in the vocabulary in descending order based on this similarity score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7425" y="1920925"/>
            <a:ext cx="462915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9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Intrinsic Metrics: The Mathematics of the Analogy Task</a:t>
            </a:r>
            <a:endParaRPr b="1" sz="30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591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Goal:</a:t>
            </a:r>
            <a:r>
              <a:rPr lang="en" sz="1400">
                <a:solidFill>
                  <a:schemeClr val="dk1"/>
                </a:solidFill>
              </a:rPr>
              <a:t> Measuring if semantic relationships translate to geometric translations in the vector space.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Analogy Format:</a:t>
            </a:r>
            <a:r>
              <a:rPr lang="en" sz="1400">
                <a:solidFill>
                  <a:schemeClr val="dk1"/>
                </a:solidFill>
              </a:rPr>
              <a:t> Find a term </a:t>
            </a:r>
            <a:r>
              <a:rPr i="1" lang="en" sz="1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b</a:t>
            </a:r>
            <a:r>
              <a:rPr lang="en" sz="1400">
                <a:solidFill>
                  <a:schemeClr val="dk1"/>
                </a:solidFill>
              </a:rPr>
              <a:t> for a given term </a:t>
            </a:r>
            <a:r>
              <a:rPr i="1" lang="en" sz="1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</a:t>
            </a:r>
            <a:r>
              <a:rPr lang="en" sz="1400">
                <a:solidFill>
                  <a:schemeClr val="dk1"/>
                </a:solidFill>
              </a:rPr>
              <a:t> so that </a:t>
            </a:r>
            <a:r>
              <a:rPr i="1" lang="en" sz="1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a:b</a:t>
            </a:r>
            <a:r>
              <a:rPr lang="en" sz="1400">
                <a:solidFill>
                  <a:schemeClr val="dk1"/>
                </a:solidFill>
              </a:rPr>
              <a:t> best resembles a sample relationship </a:t>
            </a:r>
            <a:r>
              <a:rPr i="1" lang="en" sz="1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x:y</a:t>
            </a:r>
            <a:endParaRPr i="1" sz="1400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Vector Arithmetic:</a:t>
            </a:r>
            <a:br>
              <a:rPr b="1"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Workout Example:</a:t>
            </a:r>
            <a:br>
              <a:rPr b="1"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Evaluation:</a:t>
            </a:r>
            <a:r>
              <a:rPr lang="en" sz="1400">
                <a:solidFill>
                  <a:schemeClr val="dk1"/>
                </a:solidFill>
              </a:rPr>
              <a:t> The model is scored on absolute accuracy—whether the closest vector to the calculated coordinate is the exact correct word.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5175" y="2500812"/>
            <a:ext cx="1441575" cy="8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844" y="3500525"/>
            <a:ext cx="2337350" cy="2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/>
              <a:t>The Flaw in Absolute Intrinsic Evaluation</a:t>
            </a:r>
            <a:endParaRPr b="1" sz="3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Current Standard:</a:t>
            </a:r>
            <a:r>
              <a:rPr lang="en" sz="1400">
                <a:solidFill>
                  <a:schemeClr val="dk1"/>
                </a:solidFill>
              </a:rPr>
              <a:t> Datasets ask humans for absolute similarity scores, and models are evaluated based on correlation coefficients.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Conceptual Flaws: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Arbitrary Aggregation:</a:t>
            </a:r>
            <a:r>
              <a:rPr lang="en" sz="1400">
                <a:solidFill>
                  <a:schemeClr val="dk1"/>
                </a:solidFill>
              </a:rPr>
              <a:t> It forces humans to order completely unrelated pairs. For example, deciding if the pair </a:t>
            </a:r>
            <a:r>
              <a:rPr i="1" lang="en" sz="1400">
                <a:solidFill>
                  <a:schemeClr val="dk1"/>
                </a:solidFill>
              </a:rPr>
              <a:t>(dog, cat)</a:t>
            </a:r>
            <a:r>
              <a:rPr lang="en" sz="1400">
                <a:solidFill>
                  <a:schemeClr val="dk1"/>
                </a:solidFill>
              </a:rPr>
              <a:t> is mathematically more similar than </a:t>
            </a:r>
            <a:r>
              <a:rPr i="1" lang="en" sz="1400">
                <a:solidFill>
                  <a:schemeClr val="dk1"/>
                </a:solidFill>
              </a:rPr>
              <a:t>(banana, apple)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Opportunistic Data:</a:t>
            </a:r>
            <a:r>
              <a:rPr lang="en" sz="1400">
                <a:solidFill>
                  <a:schemeClr val="dk1"/>
                </a:solidFill>
              </a:rPr>
              <a:t> Existing query inventories were collected heuristically and are poorly calibrated to real-world corpus statistics.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Proposed Method 1 - Comparative Evaluation</a:t>
            </a:r>
            <a:endParaRPr b="1" sz="3000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Shift:</a:t>
            </a:r>
            <a:r>
              <a:rPr lang="en" sz="1400">
                <a:solidFill>
                  <a:schemeClr val="dk1"/>
                </a:solidFill>
              </a:rPr>
              <a:t> Instead of absolute scores, present the task as a direct choice problem for human evaluators.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Advantages: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Directly reflects human preferences.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Asking for relative judgments is cognitively easier for humans than assigning absolute numerical scores.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0" l="-1163" r="0" t="13480"/>
          <a:stretch/>
        </p:blipFill>
        <p:spPr>
          <a:xfrm>
            <a:off x="1594625" y="2864075"/>
            <a:ext cx="5456625" cy="14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Designing a Better Query Inventory</a:t>
            </a:r>
            <a:endParaRPr b="1" sz="3000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Goal:</a:t>
            </a:r>
            <a:r>
              <a:rPr lang="en" sz="1400">
                <a:solidFill>
                  <a:schemeClr val="dk1"/>
                </a:solidFill>
              </a:rPr>
              <a:t> The query inventory must aim for linguistic insight through diversity and balancedness.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Balancing Criteria: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Balance rare vs. frequent words (e.g., </a:t>
            </a:r>
            <a:r>
              <a:rPr i="1" lang="en" sz="1400">
                <a:solidFill>
                  <a:schemeClr val="dk1"/>
                </a:solidFill>
              </a:rPr>
              <a:t>play</a:t>
            </a:r>
            <a:r>
              <a:rPr lang="en" sz="1400">
                <a:solidFill>
                  <a:schemeClr val="dk1"/>
                </a:solidFill>
              </a:rPr>
              <a:t> vs. </a:t>
            </a:r>
            <a:r>
              <a:rPr i="1" lang="en" sz="1400">
                <a:solidFill>
                  <a:schemeClr val="dk1"/>
                </a:solidFill>
              </a:rPr>
              <a:t>devour</a:t>
            </a:r>
            <a:r>
              <a:rPr lang="en" sz="1400">
                <a:solidFill>
                  <a:schemeClr val="dk1"/>
                </a:solidFill>
              </a:rPr>
              <a:t>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Balance POS classes (e.g., </a:t>
            </a:r>
            <a:r>
              <a:rPr i="1" lang="en" sz="1400">
                <a:solidFill>
                  <a:schemeClr val="dk1"/>
                </a:solidFill>
              </a:rPr>
              <a:t>skillfully</a:t>
            </a:r>
            <a:r>
              <a:rPr lang="en" sz="1400">
                <a:solidFill>
                  <a:schemeClr val="dk1"/>
                </a:solidFill>
              </a:rPr>
              <a:t> vs. </a:t>
            </a:r>
            <a:r>
              <a:rPr i="1" lang="en" sz="1400">
                <a:solidFill>
                  <a:schemeClr val="dk1"/>
                </a:solidFill>
              </a:rPr>
              <a:t>piano</a:t>
            </a:r>
            <a:r>
              <a:rPr lang="en" sz="1400">
                <a:solidFill>
                  <a:schemeClr val="dk1"/>
                </a:solidFill>
              </a:rPr>
              <a:t>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Balance abstractness vs. concreteness (e.g., </a:t>
            </a:r>
            <a:r>
              <a:rPr i="1" lang="en" sz="1400">
                <a:solidFill>
                  <a:schemeClr val="dk1"/>
                </a:solidFill>
              </a:rPr>
              <a:t>eagerness</a:t>
            </a:r>
            <a:r>
              <a:rPr lang="en" sz="1400">
                <a:solidFill>
                  <a:schemeClr val="dk1"/>
                </a:solidFill>
              </a:rPr>
              <a:t> vs. </a:t>
            </a:r>
            <a:r>
              <a:rPr i="1" lang="en" sz="1400">
                <a:solidFill>
                  <a:schemeClr val="dk1"/>
                </a:solidFill>
              </a:rPr>
              <a:t>table</a:t>
            </a:r>
            <a:r>
              <a:rPr lang="en" sz="1400">
                <a:solidFill>
                  <a:schemeClr val="dk1"/>
                </a:solidFill>
              </a:rPr>
              <a:t>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Workout Example: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Query: </a:t>
            </a:r>
            <a:r>
              <a:rPr i="1" lang="en" sz="1400">
                <a:solidFill>
                  <a:schemeClr val="dk1"/>
                </a:solidFill>
              </a:rPr>
              <a:t>skillfully</a:t>
            </a:r>
            <a:endParaRPr i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Options: (a) swiftly, (b) expertly, (c) cleverly, (d) pointedly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Human Consensus: $8/8$ votes for (b) expertly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Results of Comparative Evaluation</a:t>
            </a:r>
            <a:endParaRPr b="1" sz="3000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Overall Performance:</a:t>
            </a:r>
            <a:r>
              <a:rPr lang="en" sz="1400">
                <a:solidFill>
                  <a:schemeClr val="dk1"/>
                </a:solidFill>
              </a:rPr>
              <a:t> The CBOW model generally performed the best, while Random Projections performed the worst.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Nuance:</a:t>
            </a:r>
            <a:r>
              <a:rPr lang="en" sz="1400">
                <a:solidFill>
                  <a:schemeClr val="dk1"/>
                </a:solidFill>
              </a:rPr>
              <a:t> Performance heavily varies with word frequency.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Rank Falloff:</a:t>
            </a:r>
            <a:r>
              <a:rPr lang="en" sz="1400">
                <a:solidFill>
                  <a:schemeClr val="dk1"/>
                </a:solidFill>
              </a:rPr>
              <a:t> Models exhibit different falloff behaviors; for example, CBOW excels at finding the exact first nearest neighbor (1 NN) but its accuracy drops for neighbors further away.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762" y="2845200"/>
            <a:ext cx="5072475" cy="22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/>
              <a:t>Workout Demo - The Intrusion Task</a:t>
            </a:r>
            <a:endParaRPr b="1" sz="3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3799200" cy="36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Task:</a:t>
            </a:r>
            <a:r>
              <a:rPr lang="en" sz="1600">
                <a:solidFill>
                  <a:schemeClr val="dk1"/>
                </a:solidFill>
              </a:rPr>
              <a:t> What word belongs the least to the following group?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(a) finally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(b) eventually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(c) put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(d) immediately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Result:</a:t>
            </a:r>
            <a:r>
              <a:rPr lang="en" sz="1600">
                <a:solidFill>
                  <a:schemeClr val="dk1"/>
                </a:solidFill>
              </a:rPr>
              <a:t> The answer is </a:t>
            </a:r>
            <a:r>
              <a:rPr b="1" lang="en" sz="1600">
                <a:solidFill>
                  <a:schemeClr val="dk1"/>
                </a:solidFill>
              </a:rPr>
              <a:t>put</a:t>
            </a:r>
            <a:r>
              <a:rPr lang="en" sz="1600">
                <a:solidFill>
                  <a:schemeClr val="dk1"/>
                </a:solidFill>
              </a:rPr>
              <a:t> (8/8 human votes).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Implication:</a:t>
            </a:r>
            <a:r>
              <a:rPr lang="en" sz="1600">
                <a:solidFill>
                  <a:schemeClr val="dk1"/>
                </a:solidFill>
              </a:rPr>
              <a:t> Embeddings that group "put" with time-based adverbs lack local geometric coherence.</a:t>
            </a:r>
            <a:endParaRPr sz="1600"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475" y="1568850"/>
            <a:ext cx="4929526" cy="216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Proposed Method 2 - Set-Based Evaluation (Coherence)</a:t>
            </a:r>
            <a:endParaRPr b="1" sz="2400"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70850" y="1100650"/>
            <a:ext cx="8520600" cy="23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dk1"/>
                </a:solidFill>
              </a:rPr>
              <a:t>The Limitation of Pairs:</a:t>
            </a:r>
            <a:r>
              <a:rPr lang="en" sz="1400">
                <a:solidFill>
                  <a:schemeClr val="dk1"/>
                </a:solidFill>
              </a:rPr>
              <a:t> Standard metrics only evaluate the similarity between two specific words, which ignores global properties.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dk1"/>
                </a:solidFill>
              </a:rPr>
              <a:t>Set-Based Evaluation:</a:t>
            </a:r>
            <a:r>
              <a:rPr lang="en" sz="1400">
                <a:solidFill>
                  <a:schemeClr val="dk1"/>
                </a:solidFill>
              </a:rPr>
              <a:t> We must look at the neighborhood of words as a whole considering all interactions.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dk1"/>
                </a:solidFill>
              </a:rPr>
              <a:t>Goal:</a:t>
            </a:r>
            <a:r>
              <a:rPr lang="en" sz="1400">
                <a:solidFill>
                  <a:schemeClr val="dk1"/>
                </a:solidFill>
              </a:rPr>
              <a:t> Measure coherence. Good embeddings should have tight, consistent local neighborhoods.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u="sng">
                <a:solidFill>
                  <a:schemeClr val="dk1"/>
                </a:solidFill>
              </a:rPr>
              <a:t>The Intrusion Task:</a:t>
            </a:r>
            <a:r>
              <a:rPr lang="en" sz="1400">
                <a:solidFill>
                  <a:schemeClr val="dk1"/>
                </a:solidFill>
              </a:rPr>
              <a:t> Take three close neighbors from a model, inject an "intruder" word of similar corpus frequency, and test if humans can identify the outlier.</a:t>
            </a:r>
            <a:br>
              <a:rPr lang="en" sz="1400">
                <a:solidFill>
                  <a:schemeClr val="dk1"/>
                </a:solidFill>
              </a:rPr>
            </a:br>
            <a:br>
              <a:rPr lang="en" sz="1400">
                <a:solidFill>
                  <a:schemeClr val="dk1"/>
                </a:solidFill>
              </a:rPr>
            </a:b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Code Demo - Automating the Intrusion Task</a:t>
            </a:r>
            <a:endParaRPr b="1"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254925" y="1152475"/>
            <a:ext cx="8577300" cy="46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Interactive Demo: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lang="en" sz="14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colab link</a:t>
            </a:r>
            <a:endParaRPr sz="1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Goal: </a:t>
            </a:r>
            <a:r>
              <a:rPr lang="en" sz="1400">
                <a:solidFill>
                  <a:schemeClr val="dk1"/>
                </a:solidFill>
              </a:rPr>
              <a:t>Build a script that mimics human intuition by automatically detecting the semantic outlier in a vector space.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Algorithm Steps: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Load the multi-dimensional word embeddings.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Define a "centroid" or query word for the local cluster (e.g., eventually).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Calculate the Cosine Similarity for all words in the candidate pool.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Automatically flag the word with the lowest mathematical similarity as the "Intruder".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Visualize the geometric distance.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Extrinsic Tasks (The Downstream Reality)</a:t>
            </a:r>
            <a:endParaRPr b="1" sz="3020"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Extrinsic Evaluation:</a:t>
            </a:r>
            <a:r>
              <a:rPr lang="en" sz="1600">
                <a:solidFill>
                  <a:schemeClr val="dk1"/>
                </a:solidFill>
              </a:rPr>
              <a:t> Using word embeddings as input features for downstream supervised NLP tasks.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The Core Hypothesis:</a:t>
            </a:r>
            <a:r>
              <a:rPr lang="en" sz="1600">
                <a:solidFill>
                  <a:schemeClr val="dk1"/>
                </a:solidFill>
              </a:rPr>
              <a:t> Better intrinsic quality also gives better downstream performance.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The Tasks Tested: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Noun phrase chunking:</a:t>
            </a:r>
            <a:r>
              <a:rPr lang="en" sz="1600">
                <a:solidFill>
                  <a:schemeClr val="dk1"/>
                </a:solidFill>
              </a:rPr>
              <a:t> Highly sensitive to syntactic information.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Sentiment classification:</a:t>
            </a:r>
            <a:r>
              <a:rPr lang="en" sz="1600">
                <a:solidFill>
                  <a:schemeClr val="dk1"/>
                </a:solidFill>
              </a:rPr>
              <a:t> Highly sensitive to semantic information using 50K movie reviews.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75700" y="124550"/>
            <a:ext cx="90681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/>
              <a:t>Extrinsic Architecture: From Vector to Classification</a:t>
            </a:r>
            <a:endParaRPr b="1" sz="2900"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6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Question:</a:t>
            </a:r>
            <a:r>
              <a:rPr lang="en" sz="1400">
                <a:solidFill>
                  <a:schemeClr val="dk1"/>
                </a:solidFill>
              </a:rPr>
              <a:t> How do we convert single word embeddings into a prediction for an entire document?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Sentiment Classification Architecture: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Dataset: 50,000 movie reviews.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Document Feature Vector Equation:</a:t>
            </a:r>
            <a:r>
              <a:rPr lang="en" sz="1400">
                <a:solidFill>
                  <a:schemeClr val="dk1"/>
                </a:solidFill>
              </a:rPr>
              <a:t> Compute a linear combination of word embeddings weighted by their frequency in the text.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Classifier:</a:t>
            </a:r>
            <a:r>
              <a:rPr lang="en" sz="1400">
                <a:solidFill>
                  <a:schemeClr val="dk1"/>
                </a:solidFill>
              </a:rPr>
              <a:t> The resulting vector $\vec{R}$ is fed into a LIBLINEAR logistic regression model.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Noun Phrase Chunking Architecture:</a:t>
            </a:r>
            <a:r>
              <a:rPr lang="en" sz="1400">
                <a:solidFill>
                  <a:schemeClr val="dk1"/>
                </a:solidFill>
              </a:rPr>
              <a:t> Word vectors are normalized to unit length and fed into a Conditional Random Field (CRF).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41" name="Google Shape;141;p26"/>
          <p:cNvPicPr preferRelativeResize="0"/>
          <p:nvPr/>
        </p:nvPicPr>
        <p:blipFill rotWithShape="1">
          <a:blip r:embed="rId3">
            <a:alphaModFix/>
          </a:blip>
          <a:srcRect b="34111" l="66029" r="0" t="0"/>
          <a:stretch/>
        </p:blipFill>
        <p:spPr>
          <a:xfrm>
            <a:off x="3328475" y="2827850"/>
            <a:ext cx="1288525" cy="8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/>
          <p:cNvPicPr preferRelativeResize="0"/>
          <p:nvPr/>
        </p:nvPicPr>
        <p:blipFill rotWithShape="1">
          <a:blip r:embed="rId3">
            <a:alphaModFix/>
          </a:blip>
          <a:srcRect b="0" l="0" r="0" t="81562"/>
          <a:stretch/>
        </p:blipFill>
        <p:spPr>
          <a:xfrm>
            <a:off x="5137725" y="3140687"/>
            <a:ext cx="3793000" cy="2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/>
              <a:t>The Mismatch - Intrinsic vs. Extrinsic</a:t>
            </a:r>
            <a:endParaRPr b="1" sz="3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644800" cy="14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The Findings:</a:t>
            </a:r>
            <a:r>
              <a:rPr lang="en" sz="1400">
                <a:solidFill>
                  <a:schemeClr val="dk1"/>
                </a:solidFill>
              </a:rPr>
              <a:t> The core hypothesis is false; better intrinsic performance does not lead to better extrinsic results.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Conclusion:</a:t>
            </a:r>
            <a:r>
              <a:rPr lang="en" sz="1400">
                <a:solidFill>
                  <a:schemeClr val="dk1"/>
                </a:solidFill>
              </a:rPr>
              <a:t> Different tasks favor different embeddings. We cannot use generic intrinsic metrics as a proxy for abstract embedding quality.</a:t>
            </a:r>
            <a:endParaRPr sz="1400"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988" y="2476775"/>
            <a:ext cx="6424226" cy="26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The Hidden Culprit - Word Frequency</a:t>
            </a:r>
            <a:endParaRPr b="1" sz="3000"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152475"/>
            <a:ext cx="469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The Twist:</a:t>
            </a:r>
            <a:r>
              <a:rPr lang="en" sz="1400">
                <a:solidFill>
                  <a:schemeClr val="dk1"/>
                </a:solidFill>
              </a:rPr>
              <a:t> Embeddings encode unwanted information—specifically, word frequency.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The Experiment:</a:t>
            </a:r>
            <a:r>
              <a:rPr lang="en" sz="1400">
                <a:solidFill>
                  <a:schemeClr val="dk1"/>
                </a:solidFill>
              </a:rPr>
              <a:t> The authors trained a logistic classifier to predict if a word was rare or frequent based purely on its normalized vector.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The Result:</a:t>
            </a:r>
            <a:r>
              <a:rPr lang="en" sz="1400">
                <a:solidFill>
                  <a:schemeClr val="dk1"/>
                </a:solidFill>
              </a:rPr>
              <a:t> Models like GloVe and TSCCA achieved nearly 100% accuracy in predicting frequency.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000" y="1277350"/>
            <a:ext cx="4162575" cy="245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The Mathematics of Frequency Bias</a:t>
            </a:r>
            <a:endParaRPr b="1" sz="3000"/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152475"/>
            <a:ext cx="4517700" cy="3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490">
                <a:solidFill>
                  <a:schemeClr val="dk1"/>
                </a:solidFill>
              </a:rPr>
              <a:t>The Power Law Relationship:</a:t>
            </a:r>
            <a:r>
              <a:rPr lang="en" sz="1490">
                <a:solidFill>
                  <a:schemeClr val="dk1"/>
                </a:solidFill>
              </a:rPr>
              <a:t> A word's nearest-neighbor rank is mathematically bound to its frequency in the training corpus.</a:t>
            </a:r>
            <a:endParaRPr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490">
                <a:solidFill>
                  <a:schemeClr val="dk1"/>
                </a:solidFill>
              </a:rPr>
              <a:t>The Equation:</a:t>
            </a:r>
            <a:br>
              <a:rPr b="1" lang="en" sz="1490">
                <a:solidFill>
                  <a:schemeClr val="dk1"/>
                </a:solidFill>
              </a:rPr>
            </a:br>
            <a:endParaRPr b="1"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490">
                <a:solidFill>
                  <a:schemeClr val="dk1"/>
                </a:solidFill>
              </a:rPr>
              <a:t>The Implication:</a:t>
            </a:r>
            <a:r>
              <a:rPr lang="en" sz="1490">
                <a:solidFill>
                  <a:schemeClr val="dk1"/>
                </a:solidFill>
              </a:rPr>
              <a:t> Frequent words are geometrically pulled closer to all other words, meaning cosine similarity naturally conflates a word's meaning with its popularity.</a:t>
            </a:r>
            <a:endParaRPr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490"/>
          </a:p>
        </p:txBody>
      </p:sp>
      <p:pic>
        <p:nvPicPr>
          <p:cNvPr id="163" name="Google Shape;16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325" y="1152475"/>
            <a:ext cx="4119975" cy="36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575" y="2611938"/>
            <a:ext cx="4321875" cy="49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/>
              <a:t>Implications &amp; Conclusions</a:t>
            </a:r>
            <a:endParaRPr b="1" sz="3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Core Issue:</a:t>
            </a:r>
            <a:r>
              <a:rPr lang="en" sz="1400">
                <a:solidFill>
                  <a:schemeClr val="dk1"/>
                </a:solidFill>
              </a:rPr>
              <a:t> Cosine similarity gets polluted by frequency-based effects. Frequent words are artificially pulled closer together in the vector space.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Practical Recommendations: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Specify Goals:</a:t>
            </a:r>
            <a:r>
              <a:rPr lang="en" sz="1400">
                <a:solidFill>
                  <a:schemeClr val="dk1"/>
                </a:solidFill>
              </a:rPr>
              <a:t> Specify the exact downstream goal of an embedding method before evaluating.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Better Data:</a:t>
            </a:r>
            <a:r>
              <a:rPr lang="en" sz="1400">
                <a:solidFill>
                  <a:schemeClr val="dk1"/>
                </a:solidFill>
              </a:rPr>
              <a:t> Use data from comparative experiments to do offline evaluation.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Custom Metrics:</a:t>
            </a:r>
            <a:r>
              <a:rPr lang="en" sz="1400">
                <a:solidFill>
                  <a:schemeClr val="dk1"/>
                </a:solidFill>
              </a:rPr>
              <a:t> We must learn custom metrics for specific tasks (e.g., semantic relatedness vs. syntactic similarity) rather than blindly relying on cosine similarity.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